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487" r:id="rId4"/>
    <p:sldId id="486" r:id="rId5"/>
    <p:sldId id="488" r:id="rId6"/>
    <p:sldId id="493" r:id="rId7"/>
    <p:sldId id="476" r:id="rId8"/>
    <p:sldId id="490" r:id="rId9"/>
    <p:sldId id="489" r:id="rId10"/>
    <p:sldId id="480" r:id="rId11"/>
    <p:sldId id="481" r:id="rId12"/>
    <p:sldId id="494" r:id="rId13"/>
    <p:sldId id="49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EFD5B-3298-4CDE-867D-1D5B7606678D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7608A-0CE8-4DBE-9F52-04BC557560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7608A-0CE8-4DBE-9F52-04BC557560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8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23E1C-E178-3919-0439-775E83C6B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01872F-E1EF-0F96-3A9A-08FBB4710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A9FE5-A4E4-0474-7E79-186DF365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713E0-5149-18B3-40EC-461159DD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C8030C-63DC-838F-8D9A-7DCA7BC4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73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8C374-B9EF-6672-90B6-90F0DF04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D1025E-D107-007B-B06D-2216457EF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BB8BB-13F3-7413-2108-5004329F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D22BD7-0150-BFBF-704D-0E3281D9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2738F-BA42-C5F2-9603-F60620F0B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29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5F272-ECFA-FF6C-65CF-DF88C7BB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270798-42AB-E368-61D8-FE8E8D979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4E3D2-8399-5221-9058-2C744CF0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4EF7F-6587-1D2E-ACD3-26F0D58D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3417C2-71C1-7E5F-2745-60A7B043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17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8CC1F-89AB-0792-7A70-EB008834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5000F-0FCF-3358-A4C6-E66C32C8B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BA8B-D9E3-7EA4-E5CE-2FA23F7DA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55BB9D-8663-A5B6-61CA-916D6EBA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91F04F-DCB3-34B2-2CCE-4AAA35BC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B3D0F1-167D-3599-C2CD-F1765D72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26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2FA83-08FA-8FA4-3425-EEB52DFD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489D7D-B093-10EE-623D-900CDA0A6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441A1D-8748-EF1C-89FD-439A5C6D1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CEAFF5-78E4-3013-7D2F-381B4F6CC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9BAC6D-7456-97AF-F926-5A856C35F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FCEB41-D055-ED99-F827-A5007E98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0080F5-2723-4183-DCEC-15DF2569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F4796C-AB4B-8A0A-7848-2A7AE4F3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7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81D3B-2201-2E9E-C513-C70BD42D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F25B8E-6B11-3A53-6AF9-0FF64C08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6F908A-4135-3DD3-5DB1-5A9DEF24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1687A9-E192-8D33-EAEA-C2F8D3D8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47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B38EC6-0437-E850-9D5C-942146CFA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2E874A-B568-16FC-8ACD-91051A9A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C51E9-B21F-EA45-772E-A25CDB6C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56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991BD-F535-0CC8-DDC0-00507E2D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5882-30EA-E059-B354-2796D72D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54E89C-5893-F534-69E6-6F67C4C43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3AAEF6-D53D-E165-25CC-DDF14D17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E9CC88-5D57-4B87-8383-EA72F261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57E42A-B6A6-F262-8E15-DD683463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6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93C5A-8E63-11DA-246F-0698518F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79B42D-B9F2-DD50-46F9-F0F951050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DDC342-36BF-3850-91AE-34DCF79E4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20BC82-FA87-3BCD-C626-623CED4C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2F7746-F1ED-495F-216E-DD937D91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F2B0EB-38B1-DC6A-7150-6E461A25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315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E20FE-ED96-4AE6-CDB2-C0ABB326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23C5B9-0B6A-5ED5-FD77-E544BA9A7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5E4B81-47FC-30EA-06D0-2D5C1320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5CA7F-E050-1B35-BE5D-742D481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0E6E57-6FA4-FDE6-FC98-090C01F9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11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5BE5A8-9850-C572-CFF9-288160C7F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EEC508-DEFE-CA08-1650-7D08E82CB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388A91-A4D3-9FBF-9DE3-6A06C38F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EE4912-E5A4-9500-7570-2D756A44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55636-0057-14CF-0A3E-35CC11D1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603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83DBEA-9AC8-4E3F-8F90-0673030427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2DA3B39-F0A3-4E11-A0D8-15DE4F7A44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EBD9A75-CDB9-4BD0-B639-F43FE0FE3E6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085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40575"/>
            <a:ext cx="12192000" cy="543099"/>
          </a:xfrm>
          <a:solidFill>
            <a:srgbClr val="206C40"/>
          </a:solidFill>
        </p:spPr>
        <p:txBody>
          <a:bodyPr/>
          <a:lstStyle>
            <a:lvl1pPr>
              <a:defRPr sz="3600" b="1" i="0" baseline="0">
                <a:solidFill>
                  <a:schemeClr val="bg1"/>
                </a:solidFill>
                <a:latin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66801"/>
            <a:ext cx="11582400" cy="5654675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"/>
              <a:defRPr sz="2800"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Ø"/>
              <a:defRPr sz="2600"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B2466EE-2BFA-4853-BAF9-9D0D19450B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25280" y="6500554"/>
            <a:ext cx="2844800" cy="304049"/>
          </a:xfrm>
          <a:ln/>
        </p:spPr>
        <p:txBody>
          <a:bodyPr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602B11E-F861-44E6-8713-90C508BC57E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E574BB-B3DB-4AB6-B271-FD7559B7F5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" y="-22501"/>
            <a:ext cx="1964297" cy="5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77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B22070-A904-496F-BDA8-CDF454035A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2E78A14-434D-4BA3-A12F-049A939340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EA634C-B5D9-4BD6-A3CA-8F38A0DC11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3202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D9FB4C-3585-4BE9-82CF-7E56C8DF10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EEB702A-73A5-4613-81C6-9A8FB9BD05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AD14A0-E3D7-477E-BC1F-62FB0F3167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049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1AF4DA6-7828-4568-A33D-03E7EED5D2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148C150-5E39-453A-B777-BDE8FC80EF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ACF256-2E4F-4681-8D83-6763B0BF91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809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168EE7-D12F-47D5-A975-41E0CEF5BF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328250-6C96-4401-8700-3EE1D3DD60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5BD3AE-8A6B-4FB9-8A9E-7659251AD1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6143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D33F3CA-A6C1-41EF-B83B-D5464F22AE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D831DB-4321-4C0F-A255-1D6020EF45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BD4514B-109C-43DE-8E98-065F851803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2FB1FE-D11F-439B-9ADF-D773A2EE11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14920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8322A6-6ACE-4700-A154-0DAF847639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44DBFC-85A5-4862-AA09-8E9C05F824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89BDCC1-DCE3-4940-879A-CBCCA7C40E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C4CF8-0D36-4977-BB4E-9E961D2F0F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3501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B4FABC-FCD6-4BCE-BFB0-741CD32F73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B3166B-516B-4047-84B4-DB7C19FA64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C949539-3AE2-42CE-8404-94250116AA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B3244-6093-475E-B528-E0EB8C4820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4964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D658E5-0B6D-4495-A97C-E290ECB94D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FD3448-29BC-4051-BE82-11890270FE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12ACDDA-E5F6-4C55-8807-76F6AF1455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AA6915-8DAB-47C9-8E4D-9D907D96B3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8827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3000" y="274639"/>
            <a:ext cx="2819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74639"/>
            <a:ext cx="82550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5CEAF3-5B02-4A8E-AC83-6308B763B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78C9A1-FAC4-4DD8-BA1B-D6FC2704CC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EFC1BE4-67F0-4EF6-B61D-8A22C25EEA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991F12-EB9D-47F9-9F22-69F14F8FF2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34323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10261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019B1F0-0393-4FD9-BEA3-A497898B89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61FAB5F-1461-4825-82C3-B00DDBB168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E62C549-54D1-44A0-8D2E-D826CB099D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49F373-1528-40FE-BC6B-AC677BD3CB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2552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10261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A738CD-CF6D-4557-BEA6-F32376CD85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1839DB-F3EF-4ADC-9797-15B70F5B26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1DC7E60-321B-41AC-B9EC-22B837ACFA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65A2D-7C19-4828-87C8-B818E550C74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167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C91C84-2E47-611F-8F9C-BB1C1DC1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CBA2B6-FC4D-6555-6D1F-A4EE1E5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B3D76-24AC-BED6-3341-1801B71C0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B193-7B95-4B72-A5E5-ABCCFB903BD9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E78069-9C4B-4941-B347-BA7567AFC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15F78-1EF5-A4BD-B17F-A8BA1D529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55FF8-65AA-451A-9E38-E0F8EA25F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79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B52C968C-B1E6-4840-B9F0-621DCCC00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4638"/>
            <a:ext cx="1026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4">
            <a:extLst>
              <a:ext uri="{FF2B5EF4-FFF2-40B4-BE49-F238E27FC236}">
                <a16:creationId xmlns:a16="http://schemas.microsoft.com/office/drawing/2014/main" id="{8CFB2EF5-6433-41E1-8071-20137C3D5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5718" name="Rectangle 6">
            <a:extLst>
              <a:ext uri="{FF2B5EF4-FFF2-40B4-BE49-F238E27FC236}">
                <a16:creationId xmlns:a16="http://schemas.microsoft.com/office/drawing/2014/main" id="{76E5A708-CF2B-425C-B09B-F11987D8FB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9" name="Rectangle 7">
            <a:extLst>
              <a:ext uri="{FF2B5EF4-FFF2-40B4-BE49-F238E27FC236}">
                <a16:creationId xmlns:a16="http://schemas.microsoft.com/office/drawing/2014/main" id="{1BC4BAD1-E70F-4E55-98D4-2CA75AABA6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D4B104F-AB53-4D28-899F-AA22D8B057F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056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accent2"/>
          </a:solidFill>
          <a:latin typeface="楷体" panose="02010609060101010101" pitchFamily="49" charset="-122"/>
          <a:ea typeface="楷体" panose="02010609060101010101" pitchFamily="49" charset="-122"/>
          <a:cs typeface="楷体" panose="02010609060101010101" pitchFamily="49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accent2"/>
          </a:solidFill>
          <a:latin typeface="楷体" panose="02010609060101010101" pitchFamily="49" charset="-122"/>
          <a:ea typeface="楷体" panose="02010609060101010101" pitchFamily="49" charset="-122"/>
          <a:cs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accent2"/>
          </a:solidFill>
          <a:latin typeface="楷体" panose="02010609060101010101" pitchFamily="49" charset="-122"/>
          <a:ea typeface="楷体" panose="02010609060101010101" pitchFamily="49" charset="-122"/>
          <a:cs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accent2"/>
          </a:solidFill>
          <a:latin typeface="楷体" panose="02010609060101010101" pitchFamily="49" charset="-122"/>
          <a:ea typeface="楷体" panose="02010609060101010101" pitchFamily="49" charset="-122"/>
          <a:cs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accent2"/>
          </a:solidFill>
          <a:latin typeface="楷体" panose="02010609060101010101" pitchFamily="49" charset="-122"/>
          <a:ea typeface="楷体" panose="02010609060101010101" pitchFamily="49" charset="-122"/>
          <a:cs typeface="宋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楷体" panose="02010609060101010101" pitchFamily="49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Na4y1w7oQ/?share_source=copy_web&amp;vd_source=a64f83a73042257197b127e4d6322c77" TargetMode="External"/><Relationship Id="rId2" Type="http://schemas.openxmlformats.org/officeDocument/2006/relationships/hyperlink" Target="https://www.bilibili.com/video/BV1s3reBME74/?share_source=copy_web&amp;vd_source=a64f83a73042257197b127e4d6322c77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bilibili.com/video/BV1a9nyz2EcB/?share_source=copy_web&amp;vd_source=a64f83a73042257197b127e4d6322c77" TargetMode="External"/><Relationship Id="rId5" Type="http://schemas.openxmlformats.org/officeDocument/2006/relationships/hyperlink" Target="https://www.bilibili.com/video/BV1qqF5zWEiZ/?share_source=copy_web&amp;vd_source=a64f83a73042257197b127e4d6322c77" TargetMode="External"/><Relationship Id="rId4" Type="http://schemas.openxmlformats.org/officeDocument/2006/relationships/hyperlink" Target="https://www.bilibili.com/video/BV1TstZz8ES5/?share_source=copy_web&amp;vd_source=a64f83a73042257197b127e4d6322c77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9D114-124A-F412-F309-68247B3C8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280" y="1151484"/>
            <a:ext cx="11415439" cy="2387600"/>
          </a:xfrm>
        </p:spPr>
        <p:txBody>
          <a:bodyPr>
            <a:noAutofit/>
          </a:bodyPr>
          <a:lstStyle/>
          <a:p>
            <a:pPr lvl="0">
              <a:spcAft>
                <a:spcPts val="1800"/>
              </a:spcAft>
              <a:defRPr/>
            </a:pPr>
            <a:r>
              <a:rPr lang="zh-CN" altLang="en-US" sz="7200" b="1" dirty="0">
                <a:solidFill>
                  <a:srgbClr val="2D2D8A"/>
                </a:solidFill>
                <a:latin typeface="楷体" pitchFamily="49" charset="-122"/>
                <a:ea typeface="楷体" pitchFamily="49" charset="-122"/>
              </a:rPr>
              <a:t>微机原理与嵌入式系统实验</a:t>
            </a:r>
            <a:br>
              <a:rPr lang="en-US" altLang="zh-CN" sz="3200" b="1" dirty="0">
                <a:solidFill>
                  <a:srgbClr val="2D2D8A"/>
                </a:solidFill>
                <a:latin typeface="楷体" pitchFamily="49" charset="-122"/>
                <a:ea typeface="楷体" pitchFamily="49" charset="-122"/>
              </a:rPr>
            </a:br>
            <a:r>
              <a:rPr lang="en-US" altLang="zh-CN" sz="3200" b="1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Microcomputer and Embedded System Lab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256BF1-4538-8930-440D-BE2340C4B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550" y="4161162"/>
            <a:ext cx="9144000" cy="1655762"/>
          </a:xfrm>
        </p:spPr>
        <p:txBody>
          <a:bodyPr/>
          <a:lstStyle/>
          <a:p>
            <a:endParaRPr lang="en-US" altLang="zh-CN" b="1" dirty="0"/>
          </a:p>
          <a:p>
            <a:r>
              <a:rPr lang="zh-CN" altLang="en-US" b="1" dirty="0"/>
              <a:t>常莉莉</a:t>
            </a:r>
            <a:endParaRPr lang="en-US" altLang="zh-CN" b="1" dirty="0"/>
          </a:p>
          <a:p>
            <a:r>
              <a:rPr lang="zh-CN" altLang="en-US" b="1" dirty="0"/>
              <a:t>中山大学电子与信息工程学院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558426-796C-A065-A546-A42685BE13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353" b="89951" l="8625" r="90625">
                        <a14:foregroundMark x1="20750" y1="23652" x2="10500" y2="46078"/>
                        <a14:foregroundMark x1="16845" y1="64627" x2="17375" y2="66176"/>
                        <a14:foregroundMark x1="14476" y1="57700" x2="14678" y2="58291"/>
                        <a14:foregroundMark x1="10500" y1="46078" x2="12178" y2="50983"/>
                        <a14:foregroundMark x1="24587" y1="71195" x2="41500" y2="82966"/>
                        <a14:foregroundMark x1="17375" y1="66176" x2="18382" y2="66877"/>
                        <a14:foregroundMark x1="41500" y1="82966" x2="65624" y2="87911"/>
                        <a14:foregroundMark x1="67143" y1="62201" x2="71497" y2="48375"/>
                        <a14:foregroundMark x1="60875" y1="82108" x2="64226" y2="71466"/>
                        <a14:foregroundMark x1="62125" y1="85049" x2="40625" y2="88358"/>
                        <a14:foregroundMark x1="78085" y1="54296" x2="78625" y2="53676"/>
                        <a14:foregroundMark x1="78625" y1="53676" x2="83875" y2="30760"/>
                        <a14:foregroundMark x1="89625" y1="33946" x2="91750" y2="52206"/>
                        <a14:foregroundMark x1="91750" y1="52206" x2="90625" y2="60172"/>
                        <a14:foregroundMark x1="90625" y1="60172" x2="90625" y2="60172"/>
                        <a14:foregroundMark x1="55198" y1="26323" x2="38750" y2="18260"/>
                        <a14:foregroundMark x1="70250" y1="33701" x2="58619" y2="27999"/>
                        <a14:foregroundMark x1="47644" y1="43852" x2="56136" y2="44609"/>
                        <a14:foregroundMark x1="39625" y1="43137" x2="41209" y2="43278"/>
                        <a14:foregroundMark x1="34750" y1="9436" x2="52125" y2="7475"/>
                        <a14:foregroundMark x1="8500" y1="42892" x2="8625" y2="53309"/>
                        <a14:foregroundMark x1="8625" y1="53309" x2="8625" y2="53309"/>
                        <a14:foregroundMark x1="18250" y1="39828" x2="28750" y2="71814"/>
                        <a14:foregroundMark x1="18500" y1="37745" x2="22875" y2="65686"/>
                        <a14:foregroundMark x1="17000" y1="41789" x2="20375" y2="62500"/>
                        <a14:foregroundMark x1="20500" y1="63358" x2="29250" y2="70221"/>
                        <a14:foregroundMark x1="67625" y1="68627" x2="80125" y2="48162"/>
                        <a14:foregroundMark x1="80125" y1="48162" x2="80250" y2="38480"/>
                        <a14:foregroundMark x1="80250" y1="38480" x2="79750" y2="37623"/>
                        <a14:foregroundMark x1="70500" y1="30392" x2="52125" y2="21201"/>
                        <a14:foregroundMark x1="52125" y1="21201" x2="31250" y2="18505"/>
                        <a14:foregroundMark x1="31250" y1="18505" x2="25125" y2="25980"/>
                        <a14:foregroundMark x1="25125" y1="25980" x2="25250" y2="29289"/>
                        <a14:foregroundMark x1="65875" y1="29657" x2="75875" y2="36887"/>
                        <a14:foregroundMark x1="78000" y1="37623" x2="79375" y2="40809"/>
                        <a14:foregroundMark x1="68125" y1="36152" x2="74250" y2="47672"/>
                        <a14:foregroundMark x1="51250" y1="28431" x2="67625" y2="38603"/>
                        <a14:foregroundMark x1="67625" y1="38603" x2="42000" y2="49020"/>
                        <a14:foregroundMark x1="42000" y1="49020" x2="51625" y2="42770"/>
                        <a14:foregroundMark x1="51625" y1="42770" x2="13750" y2="55392"/>
                        <a14:foregroundMark x1="13750" y1="55392" x2="64125" y2="61520"/>
                        <a14:foregroundMark x1="64125" y1="61520" x2="73875" y2="52328"/>
                        <a14:foregroundMark x1="73875" y1="52328" x2="75250" y2="62132"/>
                        <a14:foregroundMark x1="59875" y1="44363" x2="75750" y2="70098"/>
                        <a14:foregroundMark x1="65000" y1="67770" x2="60500" y2="61152"/>
                        <a14:foregroundMark x1="40625" y1="34314" x2="51750" y2="47181"/>
                        <a14:foregroundMark x1="63250" y1="63113" x2="71125" y2="73897"/>
                        <a14:foregroundMark x1="71875" y1="54167" x2="75875" y2="47794"/>
                        <a14:foregroundMark x1="71125" y1="66299" x2="68375" y2="65441"/>
                        <a14:foregroundMark x1="72750" y1="57353" x2="75875" y2="49265"/>
                        <a14:foregroundMark x1="75875" y1="49265" x2="75875" y2="47794"/>
                        <a14:backgroundMark x1="66875" y1="88480" x2="69125" y2="86887"/>
                        <a14:backgroundMark x1="65250" y1="89093" x2="70125" y2="88603"/>
                        <a14:backgroundMark x1="65250" y1="88848" x2="66250" y2="87377"/>
                        <a14:backgroundMark x1="74638" y1="47489" x2="74991" y2="48116"/>
                        <a14:backgroundMark x1="75279" y1="50890" x2="75128" y2="52161"/>
                        <a14:backgroundMark x1="75500" y1="49020" x2="75317" y2="50561"/>
                        <a14:backgroundMark x1="63867" y1="69318" x2="62750" y2="69975"/>
                        <a14:backgroundMark x1="24824" y1="70698" x2="25000" y2="709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99" y="27413"/>
            <a:ext cx="1460693" cy="148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8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2FCB7-DCCF-BAA5-E1F1-C4F97F05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课程安排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07828D-B9DB-92BF-2232-3E1CCE79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2B11E-F861-44E6-8713-90C508BC57E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A0AC44C-4EFB-8E98-2732-10D62773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582400" cy="5654675"/>
          </a:xfrm>
        </p:spPr>
        <p:txBody>
          <a:bodyPr/>
          <a:lstStyle/>
          <a:p>
            <a:pPr marL="355600" indent="-355600">
              <a:buSzPct val="70000"/>
              <a:defRPr/>
            </a:pPr>
            <a:r>
              <a:rPr lang="zh-CN" altLang="en-US" sz="2600" dirty="0"/>
              <a:t>第</a:t>
            </a:r>
            <a:r>
              <a:rPr lang="en-US" altLang="zh-CN" sz="2600" dirty="0"/>
              <a:t>10</a:t>
            </a:r>
            <a:r>
              <a:rPr lang="zh-CN" altLang="en-US" sz="2600" dirty="0"/>
              <a:t>周：</a:t>
            </a:r>
            <a:r>
              <a:rPr lang="en-US" altLang="zh-CN" sz="2600" dirty="0"/>
              <a:t>8086</a:t>
            </a:r>
            <a:r>
              <a:rPr lang="zh-CN" altLang="en-US" sz="2600" dirty="0"/>
              <a:t>汇编语言实验</a:t>
            </a:r>
            <a:endParaRPr lang="en-US" altLang="zh-CN" sz="2600" dirty="0"/>
          </a:p>
          <a:p>
            <a:pPr marL="355600" indent="-355600">
              <a:buSzPct val="70000"/>
              <a:defRPr/>
            </a:pPr>
            <a:r>
              <a:rPr lang="zh-CN" altLang="en-US" sz="2600" dirty="0"/>
              <a:t>第</a:t>
            </a:r>
            <a:r>
              <a:rPr lang="en-US" altLang="zh-CN" sz="2600" dirty="0"/>
              <a:t>11</a:t>
            </a:r>
            <a:r>
              <a:rPr lang="zh-CN" altLang="en-US" sz="2600" dirty="0"/>
              <a:t>周：</a:t>
            </a:r>
            <a:r>
              <a:rPr lang="en-US" altLang="zh-CN" sz="2600" dirty="0"/>
              <a:t>IO</a:t>
            </a:r>
            <a:r>
              <a:rPr lang="zh-CN" altLang="en-US" sz="2600" dirty="0"/>
              <a:t>口读写及控制实验 </a:t>
            </a:r>
            <a:endParaRPr lang="en-US" altLang="zh-CN" sz="2600" dirty="0"/>
          </a:p>
          <a:p>
            <a:pPr marL="355600" indent="-355600">
              <a:buSzPct val="70000"/>
              <a:defRPr/>
            </a:pPr>
            <a:r>
              <a:rPr lang="zh-CN" altLang="en-US" sz="2600" dirty="0"/>
              <a:t>第</a:t>
            </a:r>
            <a:r>
              <a:rPr lang="en-US" altLang="zh-CN" sz="2600" dirty="0"/>
              <a:t>12</a:t>
            </a:r>
            <a:r>
              <a:rPr lang="zh-CN" altLang="en-US" sz="2600" dirty="0"/>
              <a:t>周：</a:t>
            </a:r>
            <a:r>
              <a:rPr lang="en-US" altLang="zh-CN" sz="2600" dirty="0"/>
              <a:t>D/A </a:t>
            </a:r>
            <a:r>
              <a:rPr lang="zh-CN" altLang="zh-CN" sz="2600" dirty="0"/>
              <a:t>数模转换波形发生实验</a:t>
            </a:r>
            <a:r>
              <a:rPr lang="en-US" altLang="zh-CN" sz="2600" dirty="0"/>
              <a:t>(0832) </a:t>
            </a:r>
          </a:p>
          <a:p>
            <a:pPr marL="0" indent="0">
              <a:buSzPct val="70000"/>
              <a:buNone/>
              <a:defRPr/>
            </a:pPr>
            <a:r>
              <a:rPr lang="en-US" altLang="zh-CN" sz="2600" dirty="0"/>
              <a:t>                  A/D </a:t>
            </a:r>
            <a:r>
              <a:rPr lang="zh-CN" altLang="zh-CN" sz="2600" dirty="0"/>
              <a:t>模数转换验证实验</a:t>
            </a:r>
            <a:r>
              <a:rPr lang="en-US" altLang="zh-CN" sz="2600" dirty="0"/>
              <a:t>(0809)</a:t>
            </a:r>
          </a:p>
          <a:p>
            <a:pPr marL="355600" indent="-355600">
              <a:buSzPct val="70000"/>
              <a:defRPr/>
            </a:pPr>
            <a:r>
              <a:rPr lang="zh-CN" altLang="en-US" sz="2600" dirty="0"/>
              <a:t>第</a:t>
            </a:r>
            <a:r>
              <a:rPr lang="en-US" altLang="zh-CN" sz="2600" dirty="0"/>
              <a:t>13</a:t>
            </a:r>
            <a:r>
              <a:rPr lang="zh-CN" altLang="en-US" sz="2600" dirty="0"/>
              <a:t>周：可编程定时</a:t>
            </a:r>
            <a:r>
              <a:rPr lang="en-US" altLang="zh-CN" sz="2600" dirty="0"/>
              <a:t>/</a:t>
            </a:r>
            <a:r>
              <a:rPr lang="zh-CN" altLang="en-US" sz="2600" dirty="0"/>
              <a:t>计数器 </a:t>
            </a:r>
            <a:r>
              <a:rPr lang="en-US" altLang="zh-CN" sz="2600" dirty="0"/>
              <a:t>8254</a:t>
            </a:r>
            <a:r>
              <a:rPr lang="zh-CN" altLang="en-US" sz="2600" dirty="0"/>
              <a:t>实验</a:t>
            </a:r>
            <a:endParaRPr lang="en-US" altLang="zh-CN" sz="2600" dirty="0"/>
          </a:p>
          <a:p>
            <a:pPr marL="355600" indent="-355600">
              <a:buSzPct val="70000"/>
              <a:defRPr/>
            </a:pPr>
            <a:r>
              <a:rPr lang="zh-CN" altLang="en-US" sz="2600" dirty="0"/>
              <a:t>第</a:t>
            </a:r>
            <a:r>
              <a:rPr lang="en-US" altLang="zh-CN" sz="2600" dirty="0"/>
              <a:t>14</a:t>
            </a:r>
            <a:r>
              <a:rPr lang="zh-CN" altLang="en-US" sz="2600" dirty="0"/>
              <a:t>周：</a:t>
            </a:r>
            <a:r>
              <a:rPr lang="zh-CN" altLang="zh-CN" sz="2600" dirty="0"/>
              <a:t>外部中断综合实验（</a:t>
            </a:r>
            <a:r>
              <a:rPr lang="en-US" altLang="zh-CN" sz="2600" dirty="0"/>
              <a:t>8259</a:t>
            </a:r>
            <a:r>
              <a:rPr lang="zh-CN" altLang="zh-CN" sz="2600" dirty="0"/>
              <a:t>）</a:t>
            </a:r>
            <a:endParaRPr lang="en-US" altLang="zh-CN" sz="2600" dirty="0"/>
          </a:p>
          <a:p>
            <a:pPr marL="355600" indent="-355600">
              <a:buSzPct val="70000"/>
              <a:defRPr/>
            </a:pPr>
            <a:r>
              <a:rPr lang="zh-CN" altLang="en-US" sz="2600" dirty="0">
                <a:solidFill>
                  <a:srgbClr val="FF0000"/>
                </a:solidFill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</a:rPr>
              <a:t>15</a:t>
            </a:r>
            <a:r>
              <a:rPr lang="zh-CN" altLang="en-US" sz="2600" dirty="0">
                <a:solidFill>
                  <a:srgbClr val="FF0000"/>
                </a:solidFill>
              </a:rPr>
              <a:t>周：</a:t>
            </a:r>
            <a:r>
              <a:rPr lang="en-US" altLang="zh-CN" sz="2600" dirty="0">
                <a:solidFill>
                  <a:srgbClr val="FF0000"/>
                </a:solidFill>
              </a:rPr>
              <a:t>ARM/RISCV</a:t>
            </a:r>
            <a:r>
              <a:rPr lang="zh-CN" altLang="zh-CN" sz="2600" dirty="0">
                <a:solidFill>
                  <a:srgbClr val="FF0000"/>
                </a:solidFill>
              </a:rPr>
              <a:t>综合设计实验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marL="355600" indent="-355600">
              <a:buSzPct val="70000"/>
              <a:defRPr/>
            </a:pPr>
            <a:r>
              <a:rPr lang="zh-CN" altLang="en-US" sz="2600" dirty="0">
                <a:solidFill>
                  <a:srgbClr val="FF0000"/>
                </a:solidFill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</a:rPr>
              <a:t>16</a:t>
            </a:r>
            <a:r>
              <a:rPr lang="zh-CN" altLang="en-US" sz="2600" dirty="0">
                <a:solidFill>
                  <a:srgbClr val="FF0000"/>
                </a:solidFill>
              </a:rPr>
              <a:t>周：</a:t>
            </a:r>
            <a:r>
              <a:rPr lang="en-US" altLang="zh-CN" sz="2600" dirty="0">
                <a:solidFill>
                  <a:srgbClr val="FF0000"/>
                </a:solidFill>
              </a:rPr>
              <a:t>ARM/RISCV</a:t>
            </a:r>
            <a:r>
              <a:rPr lang="zh-CN" altLang="zh-CN" sz="2600" dirty="0">
                <a:solidFill>
                  <a:srgbClr val="FF0000"/>
                </a:solidFill>
              </a:rPr>
              <a:t>综合设计实验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marL="355600" indent="-355600">
              <a:buSzPct val="70000"/>
              <a:defRPr/>
            </a:pPr>
            <a:r>
              <a:rPr lang="zh-CN" altLang="en-US" sz="2600" dirty="0"/>
              <a:t>第</a:t>
            </a:r>
            <a:r>
              <a:rPr lang="en-US" altLang="zh-CN" sz="2600" dirty="0"/>
              <a:t>17</a:t>
            </a:r>
            <a:r>
              <a:rPr lang="zh-CN" altLang="en-US" sz="2600" dirty="0"/>
              <a:t>周：</a:t>
            </a:r>
            <a:r>
              <a:rPr lang="zh-CN" altLang="zh-CN" sz="2600" dirty="0"/>
              <a:t>综合设计实验验收</a:t>
            </a:r>
          </a:p>
          <a:p>
            <a:pPr marL="0" indent="0">
              <a:buSzPct val="70000"/>
              <a:buNone/>
              <a:defRPr/>
            </a:pPr>
            <a:r>
              <a:rPr lang="en-US" altLang="zh-CN" sz="2600" dirty="0"/>
              <a:t>                </a:t>
            </a:r>
            <a:r>
              <a:rPr lang="zh-CN" altLang="zh-CN" sz="2600" dirty="0"/>
              <a:t>补做实验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63023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49AD377-E4EC-8B55-ECCB-BDFD9A78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1200" dirty="0">
                <a:solidFill>
                  <a:srgbClr val="2D2D8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ARM/RISCV</a:t>
            </a:r>
            <a:r>
              <a:rPr lang="zh-CN" altLang="zh-CN" kern="1200" dirty="0">
                <a:solidFill>
                  <a:srgbClr val="2D2D8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综合设计实验</a:t>
            </a:r>
            <a:r>
              <a:rPr lang="zh-CN" altLang="en-US" kern="1200" dirty="0">
                <a:solidFill>
                  <a:srgbClr val="2D2D8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要求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3F070BC-35B4-16A4-7528-A551D392D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5F2E2C-995C-32A3-01B5-47FFF451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52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5A194-21CB-C28F-C63B-30070AEB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综合设计实验要求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B22AC0-7CF5-7798-2EBE-CACE4D97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3" y="1066801"/>
            <a:ext cx="11955517" cy="5654675"/>
          </a:xfrm>
        </p:spPr>
        <p:txBody>
          <a:bodyPr/>
          <a:lstStyle/>
          <a:p>
            <a:r>
              <a:rPr lang="zh-CN" altLang="en-US" sz="3200" dirty="0"/>
              <a:t>环境温度监测系统综合实验题目（总分 </a:t>
            </a:r>
            <a:r>
              <a:rPr lang="en-US" altLang="zh-CN" sz="3200" dirty="0"/>
              <a:t>100 </a:t>
            </a:r>
            <a:r>
              <a:rPr lang="zh-CN" altLang="en-US" sz="3200" dirty="0"/>
              <a:t>分）</a:t>
            </a:r>
            <a:endParaRPr lang="en-US" altLang="zh-CN" sz="3200" dirty="0"/>
          </a:p>
          <a:p>
            <a:pPr marL="685800" lvl="2" indent="0">
              <a:buNone/>
            </a:pPr>
            <a:r>
              <a:rPr lang="en-US" altLang="zh-CN" sz="2000" dirty="0"/>
              <a:t>     </a:t>
            </a:r>
            <a:r>
              <a:rPr lang="en-US" altLang="zh-CN" sz="2800" dirty="0"/>
              <a:t>——</a:t>
            </a:r>
            <a:r>
              <a:rPr lang="zh-CN" altLang="en-US" sz="2800" dirty="0"/>
              <a:t>基于微机原理与嵌入式系统实验箱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基础要求（</a:t>
            </a:r>
            <a:r>
              <a:rPr lang="en-US" altLang="zh-CN" dirty="0">
                <a:solidFill>
                  <a:srgbClr val="FF0000"/>
                </a:solidFill>
              </a:rPr>
              <a:t>60</a:t>
            </a:r>
            <a:r>
              <a:rPr lang="zh-CN" altLang="en-US" dirty="0">
                <a:solidFill>
                  <a:srgbClr val="FF0000"/>
                </a:solidFill>
              </a:rPr>
              <a:t>分）</a:t>
            </a:r>
            <a:r>
              <a:rPr lang="zh-CN" altLang="en-US" dirty="0"/>
              <a:t>：基于 </a:t>
            </a:r>
            <a:r>
              <a:rPr lang="en-US" altLang="zh-CN" dirty="0"/>
              <a:t>STM32/RISCV </a:t>
            </a:r>
            <a:r>
              <a:rPr lang="zh-CN" altLang="en-US" dirty="0"/>
              <a:t>，结合 </a:t>
            </a:r>
            <a:r>
              <a:rPr lang="en-US" altLang="zh-CN" dirty="0"/>
              <a:t>LCD</a:t>
            </a:r>
            <a:r>
              <a:rPr lang="zh-CN" altLang="en-US" dirty="0"/>
              <a:t>、</a:t>
            </a:r>
            <a:r>
              <a:rPr lang="en-US" altLang="zh-CN" dirty="0"/>
              <a:t>AHT20 </a:t>
            </a:r>
            <a:r>
              <a:rPr lang="zh-CN" altLang="en-US" dirty="0"/>
              <a:t>温湿度传感器、</a:t>
            </a:r>
            <a:r>
              <a:rPr lang="en-US" altLang="zh-CN" dirty="0"/>
              <a:t>LED</a:t>
            </a:r>
            <a:r>
              <a:rPr lang="zh-CN" altLang="en-US" dirty="0"/>
              <a:t>、独立按键，搭建环境温度监测系统。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LED </a:t>
            </a:r>
            <a:r>
              <a:rPr lang="zh-CN" altLang="en-US" dirty="0"/>
              <a:t>以呼吸灯表示正常、闪烁表示异常，按键实现基础交互；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LCD</a:t>
            </a:r>
            <a:r>
              <a:rPr lang="zh-CN" altLang="en-US" dirty="0"/>
              <a:t>显示实时温湿度信息，组号。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扩展要求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40</a:t>
            </a:r>
            <a:r>
              <a:rPr lang="zh-CN" altLang="en-US" dirty="0">
                <a:solidFill>
                  <a:srgbClr val="FF0000"/>
                </a:solidFill>
              </a:rPr>
              <a:t>分</a:t>
            </a:r>
            <a:r>
              <a:rPr lang="zh-CN" altLang="en-US" dirty="0"/>
              <a:t>，可任选其一实现，或其他创新点）：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）多传感器扩展（增加</a:t>
            </a:r>
            <a:r>
              <a:rPr lang="en-US" altLang="zh-CN" dirty="0"/>
              <a:t>1-2 </a:t>
            </a:r>
            <a:r>
              <a:rPr lang="zh-CN" altLang="en-US" dirty="0"/>
              <a:t>个），</a:t>
            </a:r>
            <a:r>
              <a:rPr lang="en-US" altLang="zh-CN" dirty="0"/>
              <a:t>LCD</a:t>
            </a:r>
            <a:r>
              <a:rPr lang="zh-CN" altLang="en-US" dirty="0"/>
              <a:t>分页显示采集信息；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LCD </a:t>
            </a:r>
            <a:r>
              <a:rPr lang="zh-CN" altLang="en-US" dirty="0"/>
              <a:t>触摸屏图形化交互，可实现阈值设置和图形化数据展示；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AI </a:t>
            </a:r>
            <a:r>
              <a:rPr lang="zh-CN" altLang="en-US" dirty="0"/>
              <a:t>学习智能监测，基于历史数据学习温湿度变化规律，当采集数据偏离历史均值 </a:t>
            </a:r>
            <a:r>
              <a:rPr lang="en-US" altLang="zh-CN" dirty="0"/>
              <a:t>±5℃</a:t>
            </a:r>
            <a:r>
              <a:rPr lang="zh-CN" altLang="en-US" dirty="0"/>
              <a:t>时判为异常，支持数据查询。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07DF2-177A-910B-0CA4-B1323C13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45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0622B8-1138-CDE2-14E4-EA60467D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微机原理与嵌入式系统实验箱资源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EE259-66C8-7A14-CB1E-18043AEB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微机原理与嵌入式系统实验课程资料</a:t>
            </a:r>
            <a:r>
              <a:rPr lang="en-US" altLang="zh-CN" sz="2000" dirty="0"/>
              <a:t>_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\</a:t>
            </a:r>
          </a:p>
          <a:p>
            <a:pPr marL="0" indent="0">
              <a:buNone/>
            </a:pPr>
            <a:r>
              <a:rPr lang="zh-CN" altLang="en-US" sz="2000" dirty="0"/>
              <a:t>实验箱硬件资料</a:t>
            </a:r>
            <a:r>
              <a:rPr lang="en-US" altLang="zh-CN" sz="2000" dirty="0"/>
              <a:t>\EES351-MC</a:t>
            </a:r>
            <a:r>
              <a:rPr lang="zh-CN" altLang="en-US" sz="2000" dirty="0"/>
              <a:t>微机原理实验箱硬件手册</a:t>
            </a:r>
            <a:r>
              <a:rPr lang="en-US" altLang="zh-CN" sz="2000" dirty="0"/>
              <a:t>20241128</a:t>
            </a:r>
          </a:p>
          <a:p>
            <a:r>
              <a:rPr lang="en-US" altLang="zh-CN" sz="2000" dirty="0"/>
              <a:t>AHT20+BMP280</a:t>
            </a:r>
            <a:r>
              <a:rPr lang="zh-CN" altLang="en-US" sz="2000" dirty="0"/>
              <a:t>传感器模块（小组登记领取）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0466DA-B875-1E85-4272-CD8C4718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1FF9A6-E1B7-841E-F5A2-3788FCD6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203" y="1066801"/>
            <a:ext cx="3495056" cy="556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1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0ECD-1BB5-B850-F007-05859199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C3A9D-C2F0-55B3-1B25-033E0634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9FA7D-15B1-883B-5C58-75377F12F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3674"/>
            <a:ext cx="12192000" cy="5785174"/>
          </a:xfrm>
        </p:spPr>
        <p:txBody>
          <a:bodyPr/>
          <a:lstStyle/>
          <a:p>
            <a:r>
              <a:rPr lang="en-US" altLang="zh-CN" sz="1800" dirty="0"/>
              <a:t>【STM32</a:t>
            </a:r>
            <a:r>
              <a:rPr lang="zh-CN" altLang="en-US" sz="1800" dirty="0"/>
              <a:t>家庭环境监测系统</a:t>
            </a:r>
            <a:r>
              <a:rPr lang="en-US" altLang="zh-CN" sz="1800" dirty="0"/>
              <a:t>(LCD</a:t>
            </a:r>
            <a:r>
              <a:rPr lang="zh-CN" altLang="en-US" sz="1800" dirty="0"/>
              <a:t>版</a:t>
            </a:r>
            <a:r>
              <a:rPr lang="en-US" altLang="zh-CN" sz="1800" dirty="0"/>
              <a:t>)】 </a:t>
            </a:r>
            <a:r>
              <a:rPr lang="en-US" altLang="zh-CN" sz="1800" dirty="0">
                <a:hlinkClick r:id="rId2"/>
              </a:rPr>
              <a:t>https://www.bilibili.com/video/BV1s3reBME74/?share_source=copy_web&amp;vd_source=a64f83a73042257197b127e4d6322c77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r>
              <a:rPr lang="en-US" altLang="zh-CN" sz="1800" dirty="0"/>
              <a:t>【</a:t>
            </a:r>
            <a:r>
              <a:rPr lang="zh-CN" altLang="en-US" sz="1800" dirty="0"/>
              <a:t>基于</a:t>
            </a:r>
            <a:r>
              <a:rPr lang="en-US" altLang="zh-CN" sz="1800" dirty="0"/>
              <a:t>STM32</a:t>
            </a:r>
            <a:r>
              <a:rPr lang="zh-CN" altLang="en-US" sz="1800" dirty="0"/>
              <a:t>的温湿度监测系统</a:t>
            </a:r>
            <a:r>
              <a:rPr lang="en-US" altLang="zh-CN" sz="1800" dirty="0"/>
              <a:t>】 </a:t>
            </a:r>
            <a:r>
              <a:rPr lang="en-US" altLang="zh-CN" sz="1800" dirty="0">
                <a:hlinkClick r:id="rId3"/>
              </a:rPr>
              <a:t>https://www.bilibili.com/video/BV1Na4y1w7oQ/?share_source=copy_web&amp;vd_source=a64f83a73042257197b127e4d6322c77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r>
              <a:rPr lang="en-US" altLang="zh-CN" sz="1800" dirty="0"/>
              <a:t>【STM32</a:t>
            </a:r>
            <a:r>
              <a:rPr lang="zh-CN" altLang="en-US" sz="1800" dirty="0"/>
              <a:t>部署边缘</a:t>
            </a:r>
            <a:r>
              <a:rPr lang="en-US" altLang="zh-CN" sz="1800" dirty="0"/>
              <a:t>AI</a:t>
            </a:r>
            <a:r>
              <a:rPr lang="zh-CN" altLang="en-US" sz="1800" dirty="0"/>
              <a:t>实现振动检测</a:t>
            </a:r>
            <a:r>
              <a:rPr lang="en-US" altLang="zh-CN" sz="1800" dirty="0"/>
              <a:t>】 </a:t>
            </a:r>
            <a:r>
              <a:rPr lang="en-US" altLang="zh-CN" sz="1800" dirty="0">
                <a:hlinkClick r:id="rId4"/>
              </a:rPr>
              <a:t>https://www.bilibili.com/video/BV1TstZz8ES5/?share_source=copy_web&amp;vd_source=a64f83a73042257197b127e4d6322c77</a:t>
            </a:r>
            <a:endParaRPr lang="en-US" altLang="zh-CN" sz="1800" dirty="0"/>
          </a:p>
          <a:p>
            <a:endParaRPr lang="en-US" altLang="zh-CN" sz="1800" dirty="0">
              <a:highlight>
                <a:srgbClr val="FFFF00"/>
              </a:highlight>
            </a:endParaRPr>
          </a:p>
          <a:p>
            <a:r>
              <a:rPr lang="en-US" altLang="zh-CN" sz="1800" dirty="0"/>
              <a:t>【13. </a:t>
            </a:r>
            <a:r>
              <a:rPr lang="zh-CN" altLang="en-US" sz="1800" dirty="0"/>
              <a:t>基于</a:t>
            </a:r>
            <a:r>
              <a:rPr lang="en-US" altLang="zh-CN" sz="1800" dirty="0"/>
              <a:t>STM32</a:t>
            </a:r>
            <a:r>
              <a:rPr lang="zh-CN" altLang="en-US" sz="1800" dirty="0"/>
              <a:t>单片机的动物运输监测 </a:t>
            </a:r>
            <a:r>
              <a:rPr lang="en-US" altLang="zh-CN" sz="1800" dirty="0"/>
              <a:t>1</a:t>
            </a:r>
            <a:r>
              <a:rPr lang="zh-CN" altLang="en-US" sz="1800" dirty="0"/>
              <a:t>、监测心率、温湿度、二氧化碳、氨气、硫化氢、环境光照强度、火焰 </a:t>
            </a:r>
            <a:r>
              <a:rPr lang="en-US" altLang="zh-CN" sz="1800" dirty="0"/>
              <a:t>2</a:t>
            </a:r>
            <a:r>
              <a:rPr lang="zh-CN" altLang="en-US" sz="1800" dirty="0"/>
              <a:t>、</a:t>
            </a:r>
            <a:r>
              <a:rPr lang="en-US" altLang="zh-CN" sz="1800" dirty="0"/>
              <a:t>GPS</a:t>
            </a:r>
            <a:r>
              <a:rPr lang="zh-CN" altLang="en-US" sz="1800" dirty="0"/>
              <a:t>定位 </a:t>
            </a:r>
            <a:r>
              <a:rPr lang="en-US" altLang="zh-CN" sz="1800" dirty="0"/>
              <a:t>3</a:t>
            </a:r>
            <a:r>
              <a:rPr lang="zh-CN" altLang="en-US" sz="1800" dirty="0"/>
              <a:t>、</a:t>
            </a:r>
            <a:r>
              <a:rPr lang="en-US" altLang="zh-CN" sz="1800" dirty="0"/>
              <a:t>0.96</a:t>
            </a:r>
            <a:r>
              <a:rPr lang="zh-CN" altLang="en-US" sz="1800" dirty="0"/>
              <a:t>寸</a:t>
            </a:r>
            <a:r>
              <a:rPr lang="en-US" altLang="zh-CN" sz="1800" dirty="0"/>
              <a:t>OLED</a:t>
            </a:r>
            <a:r>
              <a:rPr lang="zh-CN" altLang="en-US" sz="1800" dirty="0"/>
              <a:t>液晶显示屏显</a:t>
            </a:r>
            <a:r>
              <a:rPr lang="en-US" altLang="zh-CN" sz="1800" dirty="0"/>
              <a:t>】 </a:t>
            </a:r>
            <a:r>
              <a:rPr lang="en-US" altLang="zh-CN" sz="1800" dirty="0">
                <a:hlinkClick r:id="rId5"/>
              </a:rPr>
              <a:t>https://www.bilibili.com/video/BV1qqF5zWEiZ/?share_source=copy_web&amp;vd_source=a64f83a73042257197b127e4d6322c77</a:t>
            </a:r>
            <a:endParaRPr lang="en-US" altLang="zh-CN" sz="1800" dirty="0"/>
          </a:p>
          <a:p>
            <a:endParaRPr lang="en-US" altLang="zh-CN" sz="1800" dirty="0">
              <a:highlight>
                <a:srgbClr val="FFFF00"/>
              </a:highlight>
            </a:endParaRPr>
          </a:p>
          <a:p>
            <a:r>
              <a:rPr lang="en-US" altLang="zh-CN" sz="1800" dirty="0"/>
              <a:t>【【</a:t>
            </a:r>
            <a:r>
              <a:rPr lang="zh-CN" altLang="en-US" sz="1800" dirty="0"/>
              <a:t>开源</a:t>
            </a:r>
            <a:r>
              <a:rPr lang="en-US" altLang="zh-CN" sz="1800" dirty="0"/>
              <a:t>】</a:t>
            </a:r>
            <a:r>
              <a:rPr lang="zh-CN" altLang="en-US" sz="1800" dirty="0"/>
              <a:t>猪舍环境监测系统</a:t>
            </a:r>
            <a:r>
              <a:rPr lang="en-US" altLang="zh-CN" sz="1800" dirty="0"/>
              <a:t>】 </a:t>
            </a:r>
            <a:r>
              <a:rPr lang="en-US" altLang="zh-CN" sz="1800" dirty="0">
                <a:hlinkClick r:id="rId6"/>
              </a:rPr>
              <a:t>https://www.bilibili.com/video/BV1a9nyz2EcB/?share_source=copy_web&amp;vd_source=a64f83a73042257197b127e4d6322c77</a:t>
            </a:r>
            <a:endParaRPr lang="en-US" altLang="zh-CN" sz="1800" dirty="0"/>
          </a:p>
          <a:p>
            <a:endParaRPr lang="en-US" altLang="zh-CN" sz="18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zh-CN" sz="1800" dirty="0">
              <a:highlight>
                <a:srgbClr val="FFFF00"/>
              </a:highlight>
            </a:endParaRPr>
          </a:p>
          <a:p>
            <a:endParaRPr lang="zh-CN" altLang="en-US" sz="1600" dirty="0">
              <a:highlight>
                <a:srgbClr val="FFFF00"/>
              </a:highlight>
            </a:endParaRPr>
          </a:p>
          <a:p>
            <a:pPr marL="0" lvl="0" indent="0">
              <a:buNone/>
              <a:defRPr/>
            </a:pPr>
            <a:endParaRPr kumimoji="1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" panose="02010609060101010101" pitchFamily="49" charset="-122"/>
            </a:endParaRPr>
          </a:p>
          <a:p>
            <a:pPr marL="0" lvl="0" indent="0">
              <a:buNone/>
              <a:defRPr/>
            </a:pPr>
            <a:endParaRPr kumimoji="1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745A5E-5EB7-108F-3353-F999B2CF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436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DDBAF-341E-75AC-07F3-B58F923D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验收要求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24715-D1DC-D276-7B73-260B72127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28" y="914777"/>
            <a:ext cx="11582400" cy="5654675"/>
          </a:xfrm>
        </p:spPr>
        <p:txBody>
          <a:bodyPr/>
          <a:lstStyle/>
          <a:p>
            <a:r>
              <a:rPr lang="zh-CN" altLang="en-US" dirty="0"/>
              <a:t>验收时间：第</a:t>
            </a:r>
            <a:r>
              <a:rPr lang="en-US" altLang="zh-CN" dirty="0"/>
              <a:t>17</a:t>
            </a:r>
            <a:r>
              <a:rPr lang="zh-CN" altLang="en-US" dirty="0"/>
              <a:t>周</a:t>
            </a:r>
            <a:endParaRPr lang="en-US" altLang="zh-CN" dirty="0"/>
          </a:p>
          <a:p>
            <a:r>
              <a:rPr lang="zh-CN" altLang="en-US" dirty="0"/>
              <a:t>验收方式：</a:t>
            </a:r>
            <a:r>
              <a:rPr lang="en-US" altLang="zh-CN" dirty="0"/>
              <a:t>ppt</a:t>
            </a:r>
            <a:r>
              <a:rPr lang="zh-CN" altLang="en-US" dirty="0"/>
              <a:t>现场报告</a:t>
            </a:r>
            <a:endParaRPr lang="en-US" altLang="zh-CN" dirty="0"/>
          </a:p>
          <a:p>
            <a:r>
              <a:rPr lang="zh-CN" altLang="en-US" dirty="0"/>
              <a:t>提交材料（第</a:t>
            </a:r>
            <a:r>
              <a:rPr lang="en-US" altLang="zh-CN" dirty="0"/>
              <a:t>17</a:t>
            </a:r>
            <a:r>
              <a:rPr lang="zh-CN" altLang="en-US" dirty="0"/>
              <a:t>周上课前）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zh-CN" altLang="en-US" dirty="0"/>
              <a:t>综合设计</a:t>
            </a:r>
            <a:r>
              <a:rPr lang="en-US" altLang="zh-CN" dirty="0"/>
              <a:t>ppt</a:t>
            </a:r>
            <a:r>
              <a:rPr lang="zh-CN" altLang="en-US" dirty="0"/>
              <a:t>，需包含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zh-CN" altLang="en-US" dirty="0"/>
              <a:t>基础功能展示视频和扩展功能展示视频（</a:t>
            </a:r>
            <a:r>
              <a:rPr lang="en-US" altLang="zh-CN" dirty="0"/>
              <a:t>2</a:t>
            </a:r>
            <a:r>
              <a:rPr lang="zh-CN" altLang="en-US" dirty="0"/>
              <a:t>个）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dirty="0"/>
              <a:t>应用场景、设计思路、软硬件方案、时间规划和实际耗时、困难与解决、创新点总结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dirty="0"/>
              <a:t>小组成员具体分工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（</a:t>
            </a:r>
            <a:r>
              <a:rPr lang="en-US" altLang="zh-CN" dirty="0"/>
              <a:t>2</a:t>
            </a:r>
            <a:r>
              <a:rPr lang="zh-CN" altLang="en-US" dirty="0"/>
              <a:t>）项目源码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 err="1"/>
              <a:t>Vivado</a:t>
            </a:r>
            <a:r>
              <a:rPr lang="zh-CN" altLang="en-US" dirty="0"/>
              <a:t>工程文件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dirty="0"/>
              <a:t>STM32/E203</a:t>
            </a:r>
            <a:r>
              <a:rPr lang="zh-CN" altLang="en-US" dirty="0"/>
              <a:t>端完整工程文件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dirty="0"/>
              <a:t>源码说明文档（需包含工程概述、硬件型号和连线、编译运行说明）</a:t>
            </a:r>
            <a:endParaRPr lang="en-US" altLang="zh-CN" dirty="0"/>
          </a:p>
          <a:p>
            <a:r>
              <a:rPr lang="zh-CN" altLang="en-US" sz="2400" dirty="0"/>
              <a:t>注意：</a:t>
            </a:r>
            <a:r>
              <a:rPr lang="zh-CN" altLang="en-US" sz="2400" dirty="0">
                <a:solidFill>
                  <a:srgbClr val="FF0000"/>
                </a:solidFill>
              </a:rPr>
              <a:t>如发现抄袭，判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zh-CN" altLang="en-US" sz="2400" dirty="0">
                <a:solidFill>
                  <a:srgbClr val="FF0000"/>
                </a:solidFill>
              </a:rPr>
              <a:t>分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endParaRPr lang="en-US" altLang="zh-CN" dirty="0"/>
          </a:p>
          <a:p>
            <a:pPr lvl="2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3A0715-0B12-2327-3305-FAEA324B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EE8CAE04-F307-658E-218A-090ACEA8C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157" y="1683285"/>
            <a:ext cx="3710015" cy="16668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025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842F-E744-B37A-A130-7F3F4005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68308FB-9877-1D18-BDB8-3A820D52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1200" dirty="0">
                <a:solidFill>
                  <a:srgbClr val="2D2D8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ARM/RISCV</a:t>
            </a:r>
            <a:r>
              <a:rPr lang="zh-CN" altLang="en-US" kern="1200" dirty="0">
                <a:solidFill>
                  <a:srgbClr val="2D2D8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章节指导书简介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1CAFF2B-372E-8D25-34FD-846DE6C00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0949F-AF21-9A32-02E5-AC82B978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269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2B7B-FD46-AE90-EDB7-A2A2E7F3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93C8302C-4EBF-F3A6-7368-F91C60962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680" y="1840305"/>
            <a:ext cx="3761520" cy="47688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12804F-F5F3-0003-FF00-A6D5F094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指导书目录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049A5E-7491-AC52-CAD4-AE6DC5E3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FE3FC2F-C355-FC0F-08C3-C9096DB9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11582400" cy="5654675"/>
          </a:xfrm>
        </p:spPr>
        <p:txBody>
          <a:bodyPr/>
          <a:lstStyle/>
          <a:p>
            <a:r>
              <a:rPr lang="zh-CN" altLang="zh-CN" dirty="0"/>
              <a:t>《微机原理与嵌入式系统实验指导书》（自编，校内使用）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F928746F-55E2-CEE3-D3F6-214D470A2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04" y="2167201"/>
            <a:ext cx="2921563" cy="41150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图片 7" descr="手机屏幕截图&#10;&#10;AI 生成的内容可能不正确。">
            <a:extLst>
              <a:ext uri="{FF2B5EF4-FFF2-40B4-BE49-F238E27FC236}">
                <a16:creationId xmlns:a16="http://schemas.microsoft.com/office/drawing/2014/main" id="{EF448CF5-230E-C3AC-D05B-60C4D02B4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61" y="1603264"/>
            <a:ext cx="3057517" cy="511821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869FB1D-0113-8469-B048-C9E229C912E5}"/>
              </a:ext>
            </a:extLst>
          </p:cNvPr>
          <p:cNvSpPr/>
          <p:nvPr/>
        </p:nvSpPr>
        <p:spPr>
          <a:xfrm>
            <a:off x="8253840" y="3767109"/>
            <a:ext cx="3505200" cy="29251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596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34463-4DF4-717E-E101-11E9258B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配套资源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7DBF4-AFED-BFB9-C100-3934FEFCA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教材配套资源如下（已提供所有实验所需</a:t>
            </a:r>
            <a:r>
              <a:rPr lang="en-US" altLang="zh-CN" dirty="0" err="1"/>
              <a:t>Vivado</a:t>
            </a:r>
            <a:r>
              <a:rPr lang="zh-CN" altLang="en-US" dirty="0"/>
              <a:t>工程）</a:t>
            </a:r>
            <a:endParaRPr lang="en-US" altLang="zh-CN" dirty="0"/>
          </a:p>
          <a:p>
            <a:pPr lvl="1"/>
            <a:r>
              <a:rPr lang="zh-CN" altLang="en-US" sz="2000" dirty="0"/>
              <a:t>文档：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sz="2000" dirty="0"/>
              <a:t>视频指导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站发布）</a:t>
            </a:r>
            <a:r>
              <a:rPr lang="zh-CN" altLang="en-US" dirty="0"/>
              <a:t>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62D44-647C-C181-611D-EA107341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10</a:t>
            </a:fld>
            <a:endParaRPr lang="en-US" altLang="zh-CN"/>
          </a:p>
        </p:txBody>
      </p:sp>
      <p:pic>
        <p:nvPicPr>
          <p:cNvPr id="10" name="图片 9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B3C0E26C-6A82-EF10-F8F0-F92C6ECB7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42" y="2061465"/>
            <a:ext cx="6124620" cy="338140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C93210-AE7F-2CBE-4095-CA72D107E9CC}"/>
              </a:ext>
            </a:extLst>
          </p:cNvPr>
          <p:cNvSpPr txBox="1"/>
          <p:nvPr/>
        </p:nvSpPr>
        <p:spPr>
          <a:xfrm>
            <a:off x="7863592" y="2833438"/>
            <a:ext cx="407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第</a:t>
            </a:r>
            <a:r>
              <a:rPr lang="en-US" altLang="zh-CN" sz="1200" dirty="0">
                <a:solidFill>
                  <a:srgbClr val="FF0000"/>
                </a:solidFill>
              </a:rPr>
              <a:t>1</a:t>
            </a:r>
            <a:r>
              <a:rPr lang="zh-CN" altLang="en-US" sz="1200" dirty="0">
                <a:solidFill>
                  <a:srgbClr val="FF0000"/>
                </a:solidFill>
              </a:rPr>
              <a:t>章示例汇编程序、第</a:t>
            </a:r>
            <a:r>
              <a:rPr lang="en-US" altLang="zh-CN" sz="1200" dirty="0">
                <a:solidFill>
                  <a:srgbClr val="FF0000"/>
                </a:solidFill>
              </a:rPr>
              <a:t>3-5</a:t>
            </a:r>
            <a:r>
              <a:rPr lang="zh-CN" altLang="en-US" sz="1200" dirty="0">
                <a:solidFill>
                  <a:srgbClr val="FF0000"/>
                </a:solidFill>
              </a:rPr>
              <a:t>章</a:t>
            </a:r>
            <a:r>
              <a:rPr lang="en-US" altLang="zh-CN" sz="1200" dirty="0" err="1">
                <a:solidFill>
                  <a:srgbClr val="FF0000"/>
                </a:solidFill>
              </a:rPr>
              <a:t>Vivado</a:t>
            </a:r>
            <a:r>
              <a:rPr lang="zh-CN" altLang="en-US" sz="1200" dirty="0">
                <a:solidFill>
                  <a:srgbClr val="FF0000"/>
                </a:solidFill>
              </a:rPr>
              <a:t>工程、示例</a:t>
            </a:r>
            <a:r>
              <a:rPr lang="en-US" altLang="zh-CN" sz="1200" dirty="0">
                <a:solidFill>
                  <a:srgbClr val="FF0000"/>
                </a:solidFill>
              </a:rPr>
              <a:t>SDK</a:t>
            </a:r>
            <a:r>
              <a:rPr lang="zh-CN" altLang="en-US" sz="1200" dirty="0">
                <a:solidFill>
                  <a:srgbClr val="FF0000"/>
                </a:solidFill>
              </a:rPr>
              <a:t>工程</a:t>
            </a:r>
          </a:p>
        </p:txBody>
      </p:sp>
      <p:pic>
        <p:nvPicPr>
          <p:cNvPr id="14" name="图片 13" descr="手机屏幕截图&#10;&#10;AI 生成的内容可能不正确。">
            <a:extLst>
              <a:ext uri="{FF2B5EF4-FFF2-40B4-BE49-F238E27FC236}">
                <a16:creationId xmlns:a16="http://schemas.microsoft.com/office/drawing/2014/main" id="{A5ED0DD2-F7D8-8AA0-0394-E0587335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303" y="3752165"/>
            <a:ext cx="3490938" cy="115253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21D78EE-5861-F0D8-00E5-4C7A14BA47B5}"/>
              </a:ext>
            </a:extLst>
          </p:cNvPr>
          <p:cNvSpPr txBox="1"/>
          <p:nvPr/>
        </p:nvSpPr>
        <p:spPr>
          <a:xfrm>
            <a:off x="7863592" y="3290500"/>
            <a:ext cx="407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Cotex-M3</a:t>
            </a:r>
            <a:r>
              <a:rPr lang="zh-CN" altLang="en-US" sz="1200" dirty="0">
                <a:solidFill>
                  <a:srgbClr val="FF0000"/>
                </a:solidFill>
              </a:rPr>
              <a:t>指南、</a:t>
            </a:r>
            <a:r>
              <a:rPr lang="en-US" altLang="zh-CN" sz="1200" dirty="0">
                <a:solidFill>
                  <a:srgbClr val="FF0000"/>
                </a:solidFill>
              </a:rPr>
              <a:t>STM32F103</a:t>
            </a:r>
            <a:r>
              <a:rPr lang="zh-CN" altLang="en-US" sz="1200" dirty="0">
                <a:solidFill>
                  <a:srgbClr val="FF0000"/>
                </a:solidFill>
              </a:rPr>
              <a:t>数据手册、固件库使用手册、</a:t>
            </a:r>
            <a:r>
              <a:rPr lang="en-US" altLang="zh-CN" sz="1200" dirty="0">
                <a:solidFill>
                  <a:srgbClr val="FF0000"/>
                </a:solidFill>
              </a:rPr>
              <a:t>Q&amp;A</a:t>
            </a:r>
            <a:r>
              <a:rPr lang="zh-CN" altLang="en-US" sz="1200" dirty="0">
                <a:solidFill>
                  <a:srgbClr val="FF0000"/>
                </a:solidFill>
              </a:rPr>
              <a:t>如下图：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CCCCCC-E50A-A5B8-375E-33E5C2DAD7C0}"/>
              </a:ext>
            </a:extLst>
          </p:cNvPr>
          <p:cNvSpPr txBox="1"/>
          <p:nvPr/>
        </p:nvSpPr>
        <p:spPr>
          <a:xfrm>
            <a:off x="7787279" y="4987825"/>
            <a:ext cx="4491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8086</a:t>
            </a:r>
            <a:r>
              <a:rPr lang="zh-CN" altLang="en-US" sz="1200" dirty="0">
                <a:solidFill>
                  <a:srgbClr val="FF0000"/>
                </a:solidFill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</a:rPr>
              <a:t>STM32</a:t>
            </a:r>
            <a:r>
              <a:rPr lang="zh-CN" altLang="en-US" sz="1200" dirty="0">
                <a:solidFill>
                  <a:srgbClr val="FF0000"/>
                </a:solidFill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</a:rPr>
              <a:t>RISCV</a:t>
            </a:r>
            <a:r>
              <a:rPr lang="zh-CN" altLang="en-US" sz="1200" dirty="0">
                <a:solidFill>
                  <a:srgbClr val="FF0000"/>
                </a:solidFill>
              </a:rPr>
              <a:t>（蜂鸟</a:t>
            </a:r>
            <a:r>
              <a:rPr lang="en-US" altLang="zh-CN" sz="1200" dirty="0">
                <a:solidFill>
                  <a:srgbClr val="FF0000"/>
                </a:solidFill>
              </a:rPr>
              <a:t>E203</a:t>
            </a:r>
            <a:r>
              <a:rPr lang="zh-CN" altLang="en-US" sz="1200" dirty="0">
                <a:solidFill>
                  <a:srgbClr val="FF0000"/>
                </a:solidFill>
              </a:rPr>
              <a:t>）开发软件、串口工具等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A412C1-0A1D-1097-0F75-23E4580C4861}"/>
              </a:ext>
            </a:extLst>
          </p:cNvPr>
          <p:cNvSpPr txBox="1"/>
          <p:nvPr/>
        </p:nvSpPr>
        <p:spPr>
          <a:xfrm>
            <a:off x="7787278" y="5384063"/>
            <a:ext cx="4491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实验箱电路图、硬件手册、芯片手册等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72AEE9-7400-F188-B8F1-AFCDA6E6DE6A}"/>
              </a:ext>
            </a:extLst>
          </p:cNvPr>
          <p:cNvSpPr txBox="1"/>
          <p:nvPr/>
        </p:nvSpPr>
        <p:spPr>
          <a:xfrm>
            <a:off x="7750493" y="5863359"/>
            <a:ext cx="4446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S86</a:t>
            </a:r>
            <a:r>
              <a:rPr lang="zh-CN" altLang="en-US" sz="1200" dirty="0">
                <a:solidFill>
                  <a:srgbClr val="FF0000"/>
                </a:solidFill>
              </a:rPr>
              <a:t>接口实验部分</a:t>
            </a:r>
            <a:r>
              <a:rPr lang="en-US" altLang="zh-CN" sz="1200" dirty="0">
                <a:solidFill>
                  <a:srgbClr val="FF0000"/>
                </a:solidFill>
              </a:rPr>
              <a:t>RTL Schematic </a:t>
            </a:r>
            <a:r>
              <a:rPr lang="zh-CN" altLang="en-US" sz="1200" dirty="0">
                <a:solidFill>
                  <a:srgbClr val="FF0000"/>
                </a:solidFill>
              </a:rPr>
              <a:t>图（可视化模块逻辑连接关系）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88D3D71-9537-175D-740E-A9EA5D85628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911679" y="2971938"/>
            <a:ext cx="951913" cy="426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2AE1E71-384D-2B9C-D1C4-2F6AC5E6DE3B}"/>
              </a:ext>
            </a:extLst>
          </p:cNvPr>
          <p:cNvCxnSpPr>
            <a:cxnSpLocks/>
          </p:cNvCxnSpPr>
          <p:nvPr/>
        </p:nvCxnSpPr>
        <p:spPr>
          <a:xfrm flipH="1">
            <a:off x="6897284" y="3394133"/>
            <a:ext cx="914883" cy="27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0FC9573-EF19-2746-94AF-BE13D420799F}"/>
              </a:ext>
            </a:extLst>
          </p:cNvPr>
          <p:cNvCxnSpPr>
            <a:cxnSpLocks/>
          </p:cNvCxnSpPr>
          <p:nvPr/>
        </p:nvCxnSpPr>
        <p:spPr>
          <a:xfrm flipH="1" flipV="1">
            <a:off x="6897284" y="3966580"/>
            <a:ext cx="995234" cy="1093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6567EA7-D13E-8F3B-7DEF-95B7E6B0EE85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6897284" y="4238663"/>
            <a:ext cx="889994" cy="128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0A09C01-AA67-7AC7-8C94-60E9163F725D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6792044" y="4513282"/>
            <a:ext cx="958449" cy="1488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" name="图片 2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C87E994-B79E-1802-6849-DC7544436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789" y="5615056"/>
            <a:ext cx="4828223" cy="1130981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EE2497C-81C5-2C87-1B49-1CB5890F380E}"/>
              </a:ext>
            </a:extLst>
          </p:cNvPr>
          <p:cNvSpPr/>
          <p:nvPr/>
        </p:nvSpPr>
        <p:spPr>
          <a:xfrm>
            <a:off x="9343697" y="2833438"/>
            <a:ext cx="2594495" cy="27699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993255-A075-A291-B8E0-C810DE6DA009}"/>
              </a:ext>
            </a:extLst>
          </p:cNvPr>
          <p:cNvSpPr/>
          <p:nvPr/>
        </p:nvSpPr>
        <p:spPr>
          <a:xfrm>
            <a:off x="7929303" y="3290500"/>
            <a:ext cx="3957897" cy="15124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396656-0C40-622F-3508-6A46E1B9E036}"/>
              </a:ext>
            </a:extLst>
          </p:cNvPr>
          <p:cNvSpPr/>
          <p:nvPr/>
        </p:nvSpPr>
        <p:spPr>
          <a:xfrm>
            <a:off x="8339959" y="4946738"/>
            <a:ext cx="3684514" cy="35991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295A08-D06B-E41B-9BC2-164F90C9B68B}"/>
              </a:ext>
            </a:extLst>
          </p:cNvPr>
          <p:cNvSpPr/>
          <p:nvPr/>
        </p:nvSpPr>
        <p:spPr>
          <a:xfrm>
            <a:off x="7839967" y="5406080"/>
            <a:ext cx="2638849" cy="27699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88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624E1-1FB7-B25E-A30C-82C3C9A7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补充资料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1B05E5-AFF1-42E8-EC9F-487214D9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CB1E5CE-9EA4-DF7D-D841-88AD9F18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网盘分享链接</a:t>
            </a:r>
            <a:r>
              <a:rPr lang="en-US" altLang="zh-CN" dirty="0"/>
              <a:t>: https://pan.baidu.com/s/1hSkWbmfLMbFXDRF6rbLJlw?pwd=6ash 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提取码</a:t>
            </a:r>
            <a:r>
              <a:rPr lang="en-US" altLang="zh-CN" dirty="0"/>
              <a:t>: 6ash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5404832-8260-A594-561D-2DA0F2B7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87" y="2875171"/>
            <a:ext cx="3485847" cy="19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99ECF-C04E-5081-3656-4ABF77C6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86767-4341-6449-89ED-13EBE1B94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确定并部署开发环境 ：</a:t>
            </a:r>
            <a:endParaRPr lang="en-US" altLang="zh-CN" dirty="0"/>
          </a:p>
          <a:p>
            <a:pPr lvl="1"/>
            <a:r>
              <a:rPr lang="en-US" altLang="zh-CN" dirty="0"/>
              <a:t>STM32:Vivado+Keil</a:t>
            </a:r>
            <a:r>
              <a:rPr lang="zh-CN" altLang="en-US" dirty="0"/>
              <a:t>（或</a:t>
            </a:r>
            <a:r>
              <a:rPr lang="en-US" altLang="zh-CN" dirty="0" err="1"/>
              <a:t>CubeMX</a:t>
            </a:r>
            <a:r>
              <a:rPr lang="zh-CN" altLang="en-US" dirty="0"/>
              <a:t>、</a:t>
            </a:r>
            <a:r>
              <a:rPr lang="en-US" altLang="zh-CN" dirty="0" err="1"/>
              <a:t>CubeIDE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E203</a:t>
            </a:r>
            <a:r>
              <a:rPr lang="zh-CN" altLang="en-US" dirty="0"/>
              <a:t>：</a:t>
            </a:r>
            <a:r>
              <a:rPr lang="en-US" altLang="zh-CN" dirty="0" err="1"/>
              <a:t>Vivado+NucleiStudio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2020</a:t>
            </a:r>
            <a:r>
              <a:rPr lang="zh-CN" altLang="en-US" dirty="0">
                <a:solidFill>
                  <a:srgbClr val="FF0000"/>
                </a:solidFill>
              </a:rPr>
              <a:t>版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芯片应用学习</a:t>
            </a:r>
            <a:endParaRPr lang="en-US" altLang="zh-CN" dirty="0"/>
          </a:p>
          <a:p>
            <a:pPr lvl="1"/>
            <a:r>
              <a:rPr lang="zh-CN" altLang="en-US" dirty="0"/>
              <a:t>点灯→定时器→中断→外设（</a:t>
            </a:r>
            <a:r>
              <a:rPr lang="en-US" altLang="zh-CN" dirty="0"/>
              <a:t>LCD</a:t>
            </a:r>
            <a:r>
              <a:rPr lang="zh-CN" altLang="en-US" dirty="0"/>
              <a:t>、</a:t>
            </a:r>
            <a:r>
              <a:rPr lang="en-US" altLang="zh-CN" dirty="0"/>
              <a:t> AHT20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    ——STM32</a:t>
            </a:r>
            <a:r>
              <a:rPr lang="zh-CN" altLang="en-US" dirty="0"/>
              <a:t>对应章节</a:t>
            </a:r>
            <a:r>
              <a:rPr lang="en-US" altLang="zh-CN" dirty="0"/>
              <a:t>4.1</a:t>
            </a:r>
            <a:r>
              <a:rPr lang="zh-CN" altLang="en-US" dirty="0"/>
              <a:t>、</a:t>
            </a:r>
            <a:r>
              <a:rPr lang="en-US" altLang="zh-CN" dirty="0"/>
              <a:t>4.3</a:t>
            </a:r>
            <a:r>
              <a:rPr lang="zh-CN" altLang="en-US" dirty="0"/>
              <a:t>、</a:t>
            </a:r>
            <a:r>
              <a:rPr lang="en-US" altLang="zh-CN" dirty="0"/>
              <a:t>4.7</a:t>
            </a:r>
            <a:r>
              <a:rPr lang="zh-CN" altLang="en-US" dirty="0"/>
              <a:t>、</a:t>
            </a:r>
            <a:r>
              <a:rPr lang="en-US" altLang="zh-CN" dirty="0"/>
              <a:t>4.8</a:t>
            </a:r>
            <a:r>
              <a:rPr lang="zh-CN" altLang="en-US" dirty="0"/>
              <a:t>、</a:t>
            </a:r>
            <a:r>
              <a:rPr lang="en-US" altLang="zh-CN" dirty="0"/>
              <a:t>4.9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            </a:t>
            </a:r>
            <a:r>
              <a:rPr lang="zh-CN" altLang="en-US" dirty="0">
                <a:solidFill>
                  <a:srgbClr val="FF0000"/>
                </a:solidFill>
              </a:rPr>
              <a:t>入门参考：</a:t>
            </a:r>
            <a:r>
              <a:rPr lang="en-US" altLang="zh-CN" dirty="0">
                <a:solidFill>
                  <a:srgbClr val="FF0000"/>
                </a:solidFill>
              </a:rPr>
              <a:t>\STM32</a:t>
            </a:r>
            <a:r>
              <a:rPr lang="zh-CN" altLang="en-US" dirty="0">
                <a:solidFill>
                  <a:srgbClr val="FF0000"/>
                </a:solidFill>
              </a:rPr>
              <a:t>文档资料</a:t>
            </a:r>
            <a:r>
              <a:rPr lang="en-US" altLang="zh-CN" dirty="0">
                <a:solidFill>
                  <a:srgbClr val="FF0000"/>
                </a:solidFill>
              </a:rPr>
              <a:t>\Q&amp;A</a:t>
            </a:r>
          </a:p>
          <a:p>
            <a:pPr marL="285750" lvl="1" indent="0">
              <a:buNone/>
            </a:pPr>
            <a:r>
              <a:rPr lang="en-US" altLang="zh-CN" dirty="0"/>
              <a:t>     ——E203</a:t>
            </a:r>
            <a:r>
              <a:rPr lang="zh-CN" altLang="en-US" dirty="0"/>
              <a:t>对应章节</a:t>
            </a:r>
            <a:r>
              <a:rPr lang="en-US" altLang="zh-CN" dirty="0"/>
              <a:t>5.2</a:t>
            </a:r>
            <a:r>
              <a:rPr lang="zh-CN" altLang="en-US" dirty="0"/>
              <a:t>、</a:t>
            </a:r>
            <a:r>
              <a:rPr lang="en-US" altLang="zh-CN" dirty="0"/>
              <a:t>5.6</a:t>
            </a:r>
            <a:r>
              <a:rPr lang="zh-CN" altLang="en-US" dirty="0"/>
              <a:t>、</a:t>
            </a:r>
            <a:r>
              <a:rPr lang="en-US" altLang="zh-CN" dirty="0"/>
              <a:t>5.5</a:t>
            </a:r>
            <a:r>
              <a:rPr lang="zh-CN" altLang="en-US" dirty="0"/>
              <a:t>以及示例工程</a:t>
            </a:r>
            <a:r>
              <a:rPr lang="en-US" altLang="zh-CN" dirty="0"/>
              <a:t>LAB7_IIC</a:t>
            </a:r>
            <a:r>
              <a:rPr lang="zh-CN" altLang="en-US" dirty="0"/>
              <a:t>、</a:t>
            </a:r>
            <a:r>
              <a:rPr lang="en-US" altLang="zh-CN" dirty="0"/>
              <a:t>LAB8_SPI</a:t>
            </a:r>
          </a:p>
          <a:p>
            <a:r>
              <a:rPr lang="zh-CN" altLang="en-US" dirty="0"/>
              <a:t>综合实验项目的完成</a:t>
            </a:r>
            <a:endParaRPr lang="en-US" altLang="zh-CN" dirty="0"/>
          </a:p>
          <a:p>
            <a:pPr lvl="1"/>
            <a:r>
              <a:rPr lang="zh-CN" altLang="en-US" dirty="0"/>
              <a:t>基础功能→扩展功能</a:t>
            </a:r>
            <a:endParaRPr lang="en-US" altLang="zh-CN" dirty="0"/>
          </a:p>
          <a:p>
            <a:pPr lvl="1"/>
            <a:r>
              <a:rPr lang="zh-CN" altLang="en-US" dirty="0"/>
              <a:t>模块调试→系统联调，注意预留充足调试时间，充分利用线上资源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F830B6-3546-8844-5CCE-13A600E6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2B11E-F861-44E6-8713-90C508BC57E5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40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5669</TotalTime>
  <Words>920</Words>
  <Application>Microsoft Office PowerPoint</Application>
  <PresentationFormat>宽屏</PresentationFormat>
  <Paragraphs>103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黑体</vt:lpstr>
      <vt:lpstr>楷体</vt:lpstr>
      <vt:lpstr>Arial</vt:lpstr>
      <vt:lpstr>Times New Roman</vt:lpstr>
      <vt:lpstr>Wingdings</vt:lpstr>
      <vt:lpstr>Office 主题​​</vt:lpstr>
      <vt:lpstr>1_默认设计模板</vt:lpstr>
      <vt:lpstr>微机原理与嵌入式系统实验 Microcomputer and Embedded System Lab</vt:lpstr>
      <vt:lpstr>课程安排</vt:lpstr>
      <vt:lpstr>ARM/RISCV综合设计实验要求</vt:lpstr>
      <vt:lpstr>综合设计实验要求</vt:lpstr>
      <vt:lpstr>微机原理与嵌入式系统实验箱资源</vt:lpstr>
      <vt:lpstr>示例</vt:lpstr>
      <vt:lpstr>验收要求</vt:lpstr>
      <vt:lpstr>ARM/RISCV章节指导书简介</vt:lpstr>
      <vt:lpstr>指导书目录</vt:lpstr>
      <vt:lpstr>配套资源</vt:lpstr>
      <vt:lpstr>补充资料</vt:lpstr>
      <vt:lpstr>学习路径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chang</dc:creator>
  <cp:lastModifiedBy>lily chang</cp:lastModifiedBy>
  <cp:revision>218</cp:revision>
  <dcterms:created xsi:type="dcterms:W3CDTF">2025-12-24T02:17:03Z</dcterms:created>
  <dcterms:modified xsi:type="dcterms:W3CDTF">2026-05-08T03:56:00Z</dcterms:modified>
</cp:coreProperties>
</file>